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e112ba1-cd09-1878-af6f-b71446b60651}">
          <p14:sldIdLst>
            <p14:sldId id="256"/>
          </p14:sldIdLst>
        </p14:section>
        <p14:section name="오늘의 흐름" id="{b80b6707-1865-9bac-286f-205445eefa0f}">
          <p14:sldIdLst>
            <p14:sldId id="257"/>
            <p14:sldId id="258"/>
          </p14:sldIdLst>
        </p14:section>
        <p14:section name="1단계 개념" id="{110507fe-1b03-a95d-06cf-c1cd7f453675}">
          <p14:sldIdLst>
            <p14:sldId id="259"/>
            <p14:sldId id="260"/>
            <p14:sldId id="261"/>
            <p14:sldId id="262"/>
            <p14:sldId id="263"/>
          </p14:sldIdLst>
        </p14:section>
        <p14:section name="2단계 노드" id="{c8f2ccd8-bf12-f0e1-3d12-0c260b95b92a}">
          <p14:sldIdLst>
            <p14:sldId id="264"/>
            <p14:sldId id="265"/>
            <p14:sldId id="266"/>
          </p14:sldIdLst>
        </p14:section>
        <p14:section name="3단계 시나리오" id="{1b71b7e4-a446-8edc-a178-59da3cd84769}">
          <p14:sldIdLst>
            <p14:sldId id="267"/>
          </p14:sldIdLst>
        </p14:section>
        <p14:section name="실습과 정리" id="{0a42f2d2-da35-596d-ad6a-50001aebdd05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64일차 · AI 워크플로우 개념 및 구성 요소 이해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node-0"/>
          <p:cNvSpPr/>
          <p:nvPr/>
        </p:nvSpPr>
        <p:spPr>
          <a:xfrm>
            <a:off x="914400" y="1005840"/>
            <a:ext cx="1143000" cy="11430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1005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입력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48840" y="1572768"/>
            <a:ext cx="822960" cy="0"/>
          </a:xfrm>
          <a:prstGeom prst="line">
            <a:avLst/>
          </a:prstGeom>
          <a:noFill/>
          <a:ln w="31750">
            <a:solidFill>
              <a:schemeClr val="bg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title-node-1"/>
          <p:cNvSpPr/>
          <p:nvPr/>
        </p:nvSpPr>
        <p:spPr>
          <a:xfrm>
            <a:off x="3063240" y="1005840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063240" y="1005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LLM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572768"/>
            <a:ext cx="822960" cy="0"/>
          </a:xfrm>
          <a:prstGeom prst="line">
            <a:avLst/>
          </a:prstGeom>
          <a:noFill/>
          <a:ln w="31750">
            <a:solidFill>
              <a:schemeClr val="bg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itle-node-2"/>
          <p:cNvSpPr/>
          <p:nvPr/>
        </p:nvSpPr>
        <p:spPr>
          <a:xfrm>
            <a:off x="5212080" y="1005840"/>
            <a:ext cx="1143000" cy="1143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212080" y="1005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572768"/>
            <a:ext cx="822960" cy="0"/>
          </a:xfrm>
          <a:prstGeom prst="line">
            <a:avLst/>
          </a:prstGeom>
          <a:noFill/>
          <a:ln w="31750">
            <a:solidFill>
              <a:schemeClr val="bg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title-node-3"/>
          <p:cNvSpPr/>
          <p:nvPr/>
        </p:nvSpPr>
        <p:spPr>
          <a:xfrm>
            <a:off x="7360920" y="1005840"/>
            <a:ext cx="1143000" cy="1143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60920" y="1005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95360" y="1572768"/>
            <a:ext cx="822960" cy="0"/>
          </a:xfrm>
          <a:prstGeom prst="line">
            <a:avLst/>
          </a:prstGeom>
          <a:noFill/>
          <a:ln w="31750">
            <a:solidFill>
              <a:schemeClr val="bg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itle-node-4"/>
          <p:cNvSpPr/>
          <p:nvPr/>
        </p:nvSpPr>
        <p:spPr>
          <a:xfrm>
            <a:off x="9509760" y="1005840"/>
            <a:ext cx="1143000" cy="11430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509760" y="10058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출력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64일차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429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워크플로우 개념 및 구성 요소 이해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LLM·Tool·Memory 기반 AI Workflow 구조 이해 · 업무 자동화 시나리오 분석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노코드 멀티 에이전트 워크플로우 설계 및 운영 · 2026-10-14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할 수 있게 될 세 가지</a:t>
            </a:r>
            <a:endParaRPr lang="en-US" sz="3000" dirty="0"/>
          </a:p>
        </p:txBody>
      </p:sp>
      <p:sp>
        <p:nvSpPr>
          <p:cNvPr id="3" name="goal-node-1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4813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AI 워크플로우를 설명한다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정해진 경로 위에 AI 판단 단계를 둔 업무 흐름. 규칙 자동화·AI Agent와 비교</a:t>
            </a:r>
            <a:endParaRPr lang="en-US" sz="1600" dirty="0"/>
          </a:p>
        </p:txBody>
      </p:sp>
      <p:sp>
        <p:nvSpPr>
          <p:cNvPr id="7" name="goal-node-2"/>
          <p:cNvSpPr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9443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LLM·Tool·Memory를 구분한다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각 노드가 맡는 일과 LLM의 한계를 보완하는 방식, 노드 사이의 데이터 흐름</a:t>
            </a:r>
            <a:endParaRPr lang="en-US" sz="1600" dirty="0"/>
          </a:p>
        </p:txBody>
      </p:sp>
      <p:sp>
        <p:nvSpPr>
          <p:cNvPr id="11" name="goal-node-3"/>
          <p:cNvSpPr/>
          <p:nvPr/>
        </p:nvSpPr>
        <p:spPr>
          <a:xfrm>
            <a:off x="731520" y="43891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44074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업무를 워크플로우로 분석한다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자동화 후보 선정 → AS-IS·TO-BE → 단계를 노드로 바꾸고 실행해 검증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time-card-0"/>
          <p:cNvSpPr/>
          <p:nvPr/>
        </p:nvSpPr>
        <p:spPr>
          <a:xfrm>
            <a:off x="548640" y="155448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ime-node-0"/>
          <p:cNvSpPr/>
          <p:nvPr/>
        </p:nvSpPr>
        <p:spPr>
          <a:xfrm>
            <a:off x="777240" y="17830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1~2교시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1단계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개념과 전체 아키텍처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Lab 01</a:t>
            </a:r>
            <a:endParaRPr lang="en-US" sz="1400" dirty="0"/>
          </a:p>
        </p:txBody>
      </p:sp>
      <p:sp>
        <p:nvSpPr>
          <p:cNvPr id="10" name="time-card-1"/>
          <p:cNvSpPr/>
          <p:nvPr/>
        </p:nvSpPr>
        <p:spPr>
          <a:xfrm>
            <a:off x="3383280" y="155448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time-node-1"/>
          <p:cNvSpPr/>
          <p:nvPr/>
        </p:nvSpPr>
        <p:spPr>
          <a:xfrm>
            <a:off x="3611880" y="17830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6118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3~4교시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2단계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LLM·Tool·Memory와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데이터 흐름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Lab 02</a:t>
            </a:r>
            <a:endParaRPr lang="en-US" sz="1400" dirty="0"/>
          </a:p>
        </p:txBody>
      </p:sp>
      <p:sp>
        <p:nvSpPr>
          <p:cNvPr id="17" name="time-card-2"/>
          <p:cNvSpPr/>
          <p:nvPr/>
        </p:nvSpPr>
        <p:spPr>
          <a:xfrm>
            <a:off x="6217920" y="155448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time-node-2"/>
          <p:cNvSpPr/>
          <p:nvPr/>
        </p:nvSpPr>
        <p:spPr>
          <a:xfrm>
            <a:off x="6446520" y="178308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465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5~6교시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3단계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업무 자동화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시나리오 분석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Lab 03</a:t>
            </a:r>
            <a:endParaRPr lang="en-US" sz="1400" dirty="0"/>
          </a:p>
        </p:txBody>
      </p:sp>
      <p:sp>
        <p:nvSpPr>
          <p:cNvPr id="24" name="time-card-3"/>
          <p:cNvSpPr/>
          <p:nvPr/>
        </p:nvSpPr>
        <p:spPr>
          <a:xfrm>
            <a:off x="9052560" y="155448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5" name="time-node-3"/>
          <p:cNvSpPr/>
          <p:nvPr/>
        </p:nvSpPr>
        <p:spPr>
          <a:xfrm>
            <a:off x="9281160" y="178308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92811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7~8교시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정리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퀴즈 A·B·C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오늘의 정리 · 예고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퀴즈 20분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09:00 시작 · 50분 수업 10분 휴식 · 12:00~13:00 점심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코드로 만들던 것을 노드와 선으로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지난 3개월 · 코드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이번 교과목 · 노코드 워크플로우</a:t>
            </a:r>
            <a:endParaRPr lang="en-US" sz="1800" dirty="0"/>
          </a:p>
        </p:txBody>
      </p:sp>
      <p:sp>
        <p:nvSpPr>
          <p:cNvPr id="5" name="code-0"/>
          <p:cNvSpPr/>
          <p:nvPr/>
        </p:nvSpPr>
        <p:spPr>
          <a:xfrm>
            <a:off x="548640" y="1874520"/>
            <a:ext cx="50292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engine.py에 실행 순서 작성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0" y="2176272"/>
            <a:ext cx="6400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nocode-0"/>
          <p:cNvSpPr/>
          <p:nvPr/>
        </p:nvSpPr>
        <p:spPr>
          <a:xfrm>
            <a:off x="6446520" y="1874520"/>
            <a:ext cx="5166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629400" y="18745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캔버스에 노드를 놓고 선으로 연결</a:t>
            </a:r>
            <a:endParaRPr lang="en-US" sz="1500" dirty="0"/>
          </a:p>
        </p:txBody>
      </p:sp>
      <p:sp>
        <p:nvSpPr>
          <p:cNvPr id="10" name="code-1"/>
          <p:cNvSpPr/>
          <p:nvPr/>
        </p:nvSpPr>
        <p:spPr>
          <a:xfrm>
            <a:off x="548640" y="2651760"/>
            <a:ext cx="50292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2651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함수 인자로 데이터 전달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15000" y="2953512"/>
            <a:ext cx="6400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nocode-1"/>
          <p:cNvSpPr/>
          <p:nvPr/>
        </p:nvSpPr>
        <p:spPr>
          <a:xfrm>
            <a:off x="6446520" y="2651760"/>
            <a:ext cx="5166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629400" y="2651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앞 노드 결과를 다음 노드 입력에 매핑</a:t>
            </a:r>
            <a:endParaRPr lang="en-US" sz="1500" dirty="0"/>
          </a:p>
        </p:txBody>
      </p:sp>
      <p:sp>
        <p:nvSpPr>
          <p:cNvPr id="15" name="code-2"/>
          <p:cNvSpPr/>
          <p:nvPr/>
        </p:nvSpPr>
        <p:spPr>
          <a:xfrm>
            <a:off x="548640" y="3429000"/>
            <a:ext cx="50292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34290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providers/ 레지스트리로 LLM 선택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15000" y="3730752"/>
            <a:ext cx="6400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nocode-2"/>
          <p:cNvSpPr/>
          <p:nvPr/>
        </p:nvSpPr>
        <p:spPr>
          <a:xfrm>
            <a:off x="6446520" y="3429000"/>
            <a:ext cx="5166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629400" y="34290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LLM 노드 설정에서 모델 선택</a:t>
            </a:r>
            <a:endParaRPr lang="en-US" sz="1500" dirty="0"/>
          </a:p>
        </p:txBody>
      </p:sp>
      <p:sp>
        <p:nvSpPr>
          <p:cNvPr id="20" name="code-3"/>
          <p:cNvSpPr/>
          <p:nvPr/>
        </p:nvSpPr>
        <p:spPr>
          <a:xfrm>
            <a:off x="548640" y="4206240"/>
            <a:ext cx="50292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1520" y="4206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MCP Client로 Tool 호출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715000" y="4507992"/>
            <a:ext cx="6400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nocode-3"/>
          <p:cNvSpPr/>
          <p:nvPr/>
        </p:nvSpPr>
        <p:spPr>
          <a:xfrm>
            <a:off x="6446520" y="4206240"/>
            <a:ext cx="5166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629400" y="42062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Tool 노드 추가 (HTTP·DB·MCP)</a:t>
            </a:r>
            <a:endParaRPr lang="en-US" sz="1500" dirty="0"/>
          </a:p>
        </p:txBody>
      </p:sp>
      <p:sp>
        <p:nvSpPr>
          <p:cNvPr id="25" name="code-4"/>
          <p:cNvSpPr/>
          <p:nvPr/>
        </p:nvSpPr>
        <p:spPr>
          <a:xfrm>
            <a:off x="548640" y="4983480"/>
            <a:ext cx="50292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31520" y="4983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Redis Stream·로그로 실행 추적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715000" y="5285232"/>
            <a:ext cx="6400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nocode-4"/>
          <p:cNvSpPr/>
          <p:nvPr/>
        </p:nvSpPr>
        <p:spPr>
          <a:xfrm>
            <a:off x="6446520" y="4983480"/>
            <a:ext cx="51663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629400" y="49834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실행 이력 화면에서 노드별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워크플로우란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하나의 업무 목표를 위해 여러 단계를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정해진 연결 순서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대로 실행하고, 그중 판단이 필요한 단계를 </a:t>
            </a:r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AI가 맡는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업무 흐름</a:t>
            </a:r>
            <a:endParaRPr lang="en-US" sz="2200" dirty="0"/>
          </a:p>
        </p:txBody>
      </p:sp>
      <p:sp>
        <p:nvSpPr>
          <p:cNvPr id="4" name="def-node-0"/>
          <p:cNvSpPr/>
          <p:nvPr/>
        </p:nvSpPr>
        <p:spPr>
          <a:xfrm>
            <a:off x="685800" y="2606040"/>
            <a:ext cx="1417320" cy="1417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문의 도착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시작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3310128"/>
            <a:ext cx="4114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def-node-1"/>
          <p:cNvSpPr/>
          <p:nvPr/>
        </p:nvSpPr>
        <p:spPr>
          <a:xfrm>
            <a:off x="2606040" y="2606040"/>
            <a:ext cx="1417320" cy="1417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606040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본문 정리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데이터 처리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9080" y="3310128"/>
            <a:ext cx="4114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def-node-2"/>
          <p:cNvSpPr/>
          <p:nvPr/>
        </p:nvSpPr>
        <p:spPr>
          <a:xfrm>
            <a:off x="4526280" y="2606040"/>
            <a:ext cx="1417320" cy="1417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26280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문의 분류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3310128"/>
            <a:ext cx="4114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def-node-3"/>
          <p:cNvSpPr/>
          <p:nvPr/>
        </p:nvSpPr>
        <p:spPr>
          <a:xfrm>
            <a:off x="6446520" y="2606040"/>
            <a:ext cx="1417320" cy="1417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FAQ 검색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Tool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9560" y="3310128"/>
            <a:ext cx="4114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def-node-4"/>
          <p:cNvSpPr/>
          <p:nvPr/>
        </p:nvSpPr>
        <p:spPr>
          <a:xfrm>
            <a:off x="8366760" y="2606040"/>
            <a:ext cx="1417320" cy="1417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366760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답변 초안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29800" y="3310128"/>
            <a:ext cx="4114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def-node-5"/>
          <p:cNvSpPr/>
          <p:nvPr/>
        </p:nvSpPr>
        <p:spPr>
          <a:xfrm>
            <a:off x="10287000" y="2606040"/>
            <a:ext cx="1417320" cy="1417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0287000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기록·전달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0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저장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판단이 필요한 곳에만 AI 노드를 두고, 규칙으로 되는 일은 데이터 처리·Tool 노드에 맡깁니다.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누가 다음 행동을 결정하는가</a:t>
            </a:r>
            <a:endParaRPr lang="en-US" sz="3000" dirty="0"/>
          </a:p>
        </p:txBody>
      </p:sp>
      <p:sp>
        <p:nvSpPr>
          <p:cNvPr id="3" name="cmp-0"/>
          <p:cNvSpPr/>
          <p:nvPr/>
        </p:nvSpPr>
        <p:spPr>
          <a:xfrm>
            <a:off x="548640" y="141732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규칙 기반 자동화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결정 주체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개발자가 정한 규칙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예시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매일 9시 매출 엑셀 메일 발송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특징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예측 쉬움 · 유연성 낮음</a:t>
            </a:r>
            <a:endParaRPr lang="en-US" sz="1500" dirty="0"/>
          </a:p>
        </p:txBody>
      </p:sp>
      <p:sp>
        <p:nvSpPr>
          <p:cNvPr id="6" name="cmp-1"/>
          <p:cNvSpPr/>
          <p:nvPr/>
        </p:nvSpPr>
        <p:spPr>
          <a:xfrm>
            <a:off x="4297680" y="141732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2628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AI 워크플로우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0312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결정 주체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설계자가 정한 경로 + 일부 AI 단계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예시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문의 분류 → FAQ 검색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→ 답변 초안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특징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검증 쉬움 · 비용 예측 가능</a:t>
            </a:r>
            <a:endParaRPr lang="en-US" sz="1500" dirty="0"/>
          </a:p>
        </p:txBody>
      </p:sp>
      <p:sp>
        <p:nvSpPr>
          <p:cNvPr id="9" name="cmp-2"/>
          <p:cNvSpPr/>
          <p:nvPr/>
        </p:nvSpPr>
        <p:spPr>
          <a:xfrm>
            <a:off x="8046720" y="141732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7532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AI Agent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0312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결정 주체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AI 모델이 상황을 보고 결정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예시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목표만 주면 Tool을 스스로 선택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특징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유연성 높음 · 비용·추적 어려움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실무 원칙: 가능한 한 워크플로우로, 꼭 필요한 곳에만 Agent로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워크플로우의 기본 용어</a:t>
            </a:r>
            <a:endParaRPr lang="en-US" sz="3000" dirty="0"/>
          </a:p>
        </p:txBody>
      </p:sp>
      <p:sp>
        <p:nvSpPr>
          <p:cNvPr id="3" name="term-0"/>
          <p:cNvSpPr/>
          <p:nvPr/>
        </p:nvSpPr>
        <p:spPr>
          <a:xfrm>
            <a:off x="548640" y="141732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rm-node-0"/>
          <p:cNvSpPr/>
          <p:nvPr/>
        </p:nvSpPr>
        <p:spPr>
          <a:xfrm>
            <a:off x="822960" y="19202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노드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한 가지 일을 하는 단계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코드에서: 함수 하나</a:t>
            </a:r>
            <a:endParaRPr lang="en-US" sz="1300" dirty="0"/>
          </a:p>
        </p:txBody>
      </p:sp>
      <p:sp>
        <p:nvSpPr>
          <p:cNvPr id="9" name="term-1"/>
          <p:cNvSpPr/>
          <p:nvPr/>
        </p:nvSpPr>
        <p:spPr>
          <a:xfrm>
            <a:off x="6172200" y="141732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rm-node-1"/>
          <p:cNvSpPr/>
          <p:nvPr/>
        </p:nvSpPr>
        <p:spPr>
          <a:xfrm>
            <a:off x="6446520" y="1920240"/>
            <a:ext cx="960120" cy="9601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46520" y="1920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연결 (Edge)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실행 순서와 데이터 경로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코드에서: 함수 호출 순서</a:t>
            </a:r>
            <a:endParaRPr lang="en-US" sz="1300" dirty="0"/>
          </a:p>
        </p:txBody>
      </p:sp>
      <p:sp>
        <p:nvSpPr>
          <p:cNvPr id="15" name="term-2"/>
          <p:cNvSpPr/>
          <p:nvPr/>
        </p:nvSpPr>
        <p:spPr>
          <a:xfrm>
            <a:off x="548640" y="36576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term-node-2"/>
          <p:cNvSpPr/>
          <p:nvPr/>
        </p:nvSpPr>
        <p:spPr>
          <a:xfrm>
            <a:off x="822960" y="4160520"/>
            <a:ext cx="960120" cy="9601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페이로드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4434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노드 사이를 오가는 데이터 (JSON)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937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코드에서: 인자·반환값</a:t>
            </a:r>
            <a:endParaRPr lang="en-US" sz="1300" dirty="0"/>
          </a:p>
        </p:txBody>
      </p:sp>
      <p:sp>
        <p:nvSpPr>
          <p:cNvPr id="21" name="term-3"/>
          <p:cNvSpPr/>
          <p:nvPr/>
        </p:nvSpPr>
        <p:spPr>
          <a:xfrm>
            <a:off x="6172200" y="36576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2" name="term-node-3"/>
          <p:cNvSpPr/>
          <p:nvPr/>
        </p:nvSpPr>
        <p:spPr>
          <a:xfrm>
            <a:off x="6446520" y="4160520"/>
            <a:ext cx="960120" cy="9601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446520" y="4160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실행 기록 (Trace)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434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노드별 입력·출력·시간·성공 여부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4937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코드에서: TraceEvent 목록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워크플로우의 전체 아키텍처</a:t>
            </a:r>
            <a:endParaRPr lang="en-US" sz="3000" dirty="0"/>
          </a:p>
        </p:txBody>
      </p:sp>
      <p:sp>
        <p:nvSpPr>
          <p:cNvPr id="3" name="layer-0"/>
          <p:cNvSpPr/>
          <p:nvPr/>
        </p:nvSpPr>
        <p:spPr>
          <a:xfrm>
            <a:off x="548640" y="146304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① 시작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사용자 요청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이벤트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일정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90672" y="2834640"/>
            <a:ext cx="219456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layer-1"/>
          <p:cNvSpPr/>
          <p:nvPr/>
        </p:nvSpPr>
        <p:spPr>
          <a:xfrm>
            <a:off x="3337560" y="146304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20440" y="1691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② 엔진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3317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순서 계산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데이터 전달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오류 처리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79592" y="2834640"/>
            <a:ext cx="219456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layer-2"/>
          <p:cNvSpPr/>
          <p:nvPr/>
        </p:nvSpPr>
        <p:spPr>
          <a:xfrm>
            <a:off x="6126480" y="146304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09360" y="1691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③ 노드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3317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LLM · RAG · Tool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Memory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데이터 처리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68512" y="2834640"/>
            <a:ext cx="219456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layer-3"/>
          <p:cNvSpPr/>
          <p:nvPr/>
        </p:nvSpPr>
        <p:spPr>
          <a:xfrm>
            <a:off x="8915400" y="1463040"/>
            <a:ext cx="2514600" cy="2743200"/>
          </a:xfrm>
          <a:prstGeom prst="roundRect">
            <a:avLst>
              <a:gd name="adj" fmla="val 4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098280" y="1691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④ 결과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3317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화면 응답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알림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저장</a:t>
            </a:r>
            <a:endParaRPr lang="en-US" sz="1600" dirty="0"/>
          </a:p>
        </p:txBody>
      </p:sp>
      <p:sp>
        <p:nvSpPr>
          <p:cNvPr id="18" name="ops-layer"/>
          <p:cNvSpPr/>
          <p:nvPr/>
        </p:nvSpPr>
        <p:spPr>
          <a:xfrm>
            <a:off x="548640" y="45262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⑤ 운영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실행 기록 · 버전 · 비용 · 보안 — 모든 계층에 걸쳐 관리 (74일차 이후 집중)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지난 실습: Streamlit(시작) → FastAPI·PatternEngine(엔진) → Agent·MCP·DB(노드) → SSE·화면(결과)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LLM의 한계를 Tool과 Memory가 채운다</a:t>
            </a:r>
            <a:endParaRPr lang="en-US" sz="3000" dirty="0"/>
          </a:p>
        </p:txBody>
      </p:sp>
      <p:sp>
        <p:nvSpPr>
          <p:cNvPr id="3" name="ltm-0"/>
          <p:cNvSpPr/>
          <p:nvPr/>
        </p:nvSpPr>
        <p:spPr>
          <a:xfrm>
            <a:off x="548640" y="141732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LLM · 판단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분류 · 추출 · 요약 · 생성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최신 정보·내부 문서를 모름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호출마다 기억이 없음</a:t>
            </a:r>
            <a:endParaRPr lang="en-US" sz="1600" dirty="0"/>
          </a:p>
        </p:txBody>
      </p:sp>
      <p:sp>
        <p:nvSpPr>
          <p:cNvPr id="6" name="ltm-1"/>
          <p:cNvSpPr/>
          <p:nvPr/>
        </p:nvSpPr>
        <p:spPr>
          <a:xfrm>
            <a:off x="4297680" y="141732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2628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Tool · 손과 발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0312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날씨 API · DB 조회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MCP Tool · 사내 시스템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최신 데이터와 외부 실행을 담당</a:t>
            </a:r>
            <a:endParaRPr lang="en-US" sz="1600" dirty="0"/>
          </a:p>
        </p:txBody>
      </p:sp>
      <p:sp>
        <p:nvSpPr>
          <p:cNvPr id="9" name="ltm-2"/>
          <p:cNvSpPr/>
          <p:nvPr/>
        </p:nvSpPr>
        <p:spPr>
          <a:xfrm>
            <a:off x="8046720" y="141732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7532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Memory · 기억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0312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단기(세션)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장기(선호·이력)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지식(RAG)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실행과 실행 사이를 이어 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워크플로우 Tool 노드는 설계자가 위치를 정한다 ↔ Function Calling은 LLM이 Tool을 고른다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LLM 노드는 어디서 실행되나</a:t>
            </a:r>
            <a:endParaRPr lang="en-US" sz="3000" dirty="0"/>
          </a:p>
        </p:txBody>
      </p:sp>
      <p:sp>
        <p:nvSpPr>
          <p:cNvPr id="3" name="llm-where-0"/>
          <p:cNvSpPr/>
          <p:nvPr/>
        </p:nvSpPr>
        <p:spPr>
          <a:xfrm>
            <a:off x="548640" y="1417320"/>
            <a:ext cx="3611880" cy="379476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로컬 LLM · 대체용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Ollama + gemma3:4b (내 노트북)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키·비용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없음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데이터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노트북 밖으로 나가지 않음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51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속도·품질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노트북 성능과 모델 크기에 좌우</a:t>
            </a:r>
            <a:endParaRPr lang="en-US" sz="1500" dirty="0"/>
          </a:p>
        </p:txBody>
      </p:sp>
      <p:sp>
        <p:nvSpPr>
          <p:cNvPr id="12" name="llm-where-1"/>
          <p:cNvSpPr/>
          <p:nvPr/>
        </p:nvSpPr>
        <p:spPr>
          <a:xfrm>
            <a:off x="4343400" y="1417320"/>
            <a:ext cx="3611880" cy="379476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72000" y="1600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클라우드 API · 오늘 실습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OpenAI gpt-4.1-mini 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키·비용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 키, 사용량만큼 비용·무료 한도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데이터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49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제공사 서버로 전송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251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속도·품질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대체로 빠르고 품질이 높음</a:t>
            </a:r>
            <a:endParaRPr lang="en-US" sz="1500" dirty="0"/>
          </a:p>
        </p:txBody>
      </p:sp>
      <p:sp>
        <p:nvSpPr>
          <p:cNvPr id="21" name="model-compare"/>
          <p:cNvSpPr/>
          <p:nvPr/>
        </p:nvSpPr>
        <p:spPr>
          <a:xfrm>
            <a:off x="8275320" y="1417320"/>
            <a:ext cx="3337560" cy="37947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50392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같은 문의 4건 분류 (gemma3:4b도 4/4)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148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1/4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9921240" y="2148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gemma3:1b 대체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815MB · 약 1초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3611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4/4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611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gpt-4.1-mini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OpenAI · 약 1초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작은 모델은 빠르지만 판단이 틀릴 수 있다 → 노드마다 맞는 모델 선택 · 출력 검증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LLM·Tool·Memory의 상호작용 패턴 4가지</a:t>
            </a:r>
            <a:endParaRPr lang="en-US" sz="3000" dirty="0"/>
          </a:p>
        </p:txBody>
      </p:sp>
      <p:sp>
        <p:nvSpPr>
          <p:cNvPr id="3" name="pat-0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1. 근거 제공</a:t>
            </a:r>
            <a:endParaRPr lang="en-US" sz="1900" dirty="0"/>
          </a:p>
        </p:txBody>
      </p:sp>
      <p:sp>
        <p:nvSpPr>
          <p:cNvPr id="5" name="pat-0-n0"/>
          <p:cNvSpPr/>
          <p:nvPr/>
        </p:nvSpPr>
        <p:spPr>
          <a:xfrm>
            <a:off x="868680" y="21031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83080" y="2532888"/>
            <a:ext cx="3657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pat-0-n1"/>
          <p:cNvSpPr/>
          <p:nvPr/>
        </p:nvSpPr>
        <p:spPr>
          <a:xfrm>
            <a:off x="2194560" y="21031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19456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날씨 데이터로 답변</a:t>
            </a:r>
            <a:endParaRPr lang="en-US" sz="1400" dirty="0"/>
          </a:p>
        </p:txBody>
      </p:sp>
      <p:sp>
        <p:nvSpPr>
          <p:cNvPr id="11" name="pat-1"/>
          <p:cNvSpPr/>
          <p:nvPr/>
        </p:nvSpPr>
        <p:spPr>
          <a:xfrm>
            <a:off x="617220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2. 인자 추출</a:t>
            </a:r>
            <a:endParaRPr lang="en-US" sz="1900" dirty="0"/>
          </a:p>
        </p:txBody>
      </p:sp>
      <p:sp>
        <p:nvSpPr>
          <p:cNvPr id="13" name="pat-1-n0"/>
          <p:cNvSpPr/>
          <p:nvPr/>
        </p:nvSpPr>
        <p:spPr>
          <a:xfrm>
            <a:off x="6492240" y="210312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9224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2532888"/>
            <a:ext cx="3657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pat-1-n1"/>
          <p:cNvSpPr/>
          <p:nvPr/>
        </p:nvSpPr>
        <p:spPr>
          <a:xfrm>
            <a:off x="7818120" y="21031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818120" y="2103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Tool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1031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문장에서 도시 추출 → 조회</a:t>
            </a:r>
            <a:endParaRPr lang="en-US" sz="1400" dirty="0"/>
          </a:p>
        </p:txBody>
      </p:sp>
      <p:sp>
        <p:nvSpPr>
          <p:cNvPr id="19" name="pat-2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3. 개인화 순환</a:t>
            </a:r>
            <a:endParaRPr lang="en-US" sz="1900" dirty="0"/>
          </a:p>
        </p:txBody>
      </p:sp>
      <p:sp>
        <p:nvSpPr>
          <p:cNvPr id="21" name="pat-2-n0"/>
          <p:cNvSpPr/>
          <p:nvPr/>
        </p:nvSpPr>
        <p:spPr>
          <a:xfrm>
            <a:off x="868680" y="443484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6868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783080" y="4864608"/>
            <a:ext cx="3657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pat-2-n1"/>
          <p:cNvSpPr/>
          <p:nvPr/>
        </p:nvSpPr>
        <p:spPr>
          <a:xfrm>
            <a:off x="2194560" y="44348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219456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08960" y="4864608"/>
            <a:ext cx="3657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pat-2-n2"/>
          <p:cNvSpPr/>
          <p:nvPr/>
        </p:nvSpPr>
        <p:spPr>
          <a:xfrm>
            <a:off x="3520440" y="443484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352044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Mem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4348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선호 읽기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추천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이력 저장</a:t>
            </a:r>
            <a:endParaRPr lang="en-US" sz="1400" dirty="0"/>
          </a:p>
        </p:txBody>
      </p:sp>
      <p:sp>
        <p:nvSpPr>
          <p:cNvPr id="30" name="pat-3"/>
          <p:cNvSpPr/>
          <p:nvPr/>
        </p:nvSpPr>
        <p:spPr>
          <a:xfrm>
            <a:off x="6172200" y="37033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44652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4. 검색 증강</a:t>
            </a:r>
            <a:endParaRPr lang="en-US" sz="1900" dirty="0"/>
          </a:p>
        </p:txBody>
      </p:sp>
      <p:sp>
        <p:nvSpPr>
          <p:cNvPr id="32" name="pat-3-n0"/>
          <p:cNvSpPr/>
          <p:nvPr/>
        </p:nvSpPr>
        <p:spPr>
          <a:xfrm>
            <a:off x="6492240" y="4434840"/>
            <a:ext cx="868680" cy="8686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49224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RAG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06640" y="4864608"/>
            <a:ext cx="3657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pat-3-n1"/>
          <p:cNvSpPr/>
          <p:nvPr/>
        </p:nvSpPr>
        <p:spPr>
          <a:xfrm>
            <a:off x="7818120" y="44348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781812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LLM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961120" y="44348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FAQ 검색 → 근거 인용 답변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업무 자동화 시나리오 분석 6단계</a:t>
            </a:r>
            <a:endParaRPr lang="en-US" sz="3000" dirty="0"/>
          </a:p>
        </p:txBody>
      </p:sp>
      <p:sp>
        <p:nvSpPr>
          <p:cNvPr id="3" name="flow-0"/>
          <p:cNvSpPr/>
          <p:nvPr/>
        </p:nvSpPr>
        <p:spPr>
          <a:xfrm>
            <a:off x="548640" y="146304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후보 고르기</a:t>
            </a:r>
            <a:endParaRPr lang="en-US" sz="2200" dirty="0"/>
          </a:p>
        </p:txBody>
      </p:sp>
      <p:sp>
        <p:nvSpPr>
          <p:cNvPr id="5" name="flow-1"/>
          <p:cNvSpPr/>
          <p:nvPr/>
        </p:nvSpPr>
        <p:spPr>
          <a:xfrm>
            <a:off x="2450592" y="146304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450592" y="14630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AS-IS 파악</a:t>
            </a:r>
            <a:endParaRPr lang="en-US" sz="2200" dirty="0"/>
          </a:p>
        </p:txBody>
      </p:sp>
      <p:sp>
        <p:nvSpPr>
          <p:cNvPr id="7" name="flow-2"/>
          <p:cNvSpPr/>
          <p:nvPr/>
        </p:nvSpPr>
        <p:spPr>
          <a:xfrm>
            <a:off x="4352544" y="146304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352544" y="14630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TO-BE 설계</a:t>
            </a:r>
            <a:endParaRPr lang="en-US" sz="2200" dirty="0"/>
          </a:p>
        </p:txBody>
      </p:sp>
      <p:sp>
        <p:nvSpPr>
          <p:cNvPr id="9" name="flow-3"/>
          <p:cNvSpPr/>
          <p:nvPr/>
        </p:nvSpPr>
        <p:spPr>
          <a:xfrm>
            <a:off x="6254496" y="146304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54496" y="14630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단계 → 노드</a:t>
            </a:r>
            <a:endParaRPr lang="en-US" sz="2200" dirty="0"/>
          </a:p>
        </p:txBody>
      </p:sp>
      <p:sp>
        <p:nvSpPr>
          <p:cNvPr id="11" name="flow-4"/>
          <p:cNvSpPr/>
          <p:nvPr/>
        </p:nvSpPr>
        <p:spPr>
          <a:xfrm>
            <a:off x="8156448" y="146304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156448" y="14630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작성·실행</a:t>
            </a:r>
            <a:endParaRPr lang="en-US" sz="2200" dirty="0"/>
          </a:p>
        </p:txBody>
      </p:sp>
      <p:sp>
        <p:nvSpPr>
          <p:cNvPr id="13" name="flow-5"/>
          <p:cNvSpPr/>
          <p:nvPr/>
        </p:nvSpPr>
        <p:spPr>
          <a:xfrm>
            <a:off x="10058400" y="146304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058400" y="14630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검증·개선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17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자동화 후보 판단 기준</a:t>
            </a:r>
            <a:endParaRPr lang="en-US" sz="1900" dirty="0"/>
          </a:p>
        </p:txBody>
      </p:sp>
      <p:sp>
        <p:nvSpPr>
          <p:cNvPr id="16" name="crit-0"/>
          <p:cNvSpPr/>
          <p:nvPr/>
        </p:nvSpPr>
        <p:spPr>
          <a:xfrm>
            <a:off x="548640" y="3566160"/>
            <a:ext cx="208483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35661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반복성</a:t>
            </a:r>
            <a:endParaRPr lang="en-US" sz="1500" dirty="0"/>
          </a:p>
        </p:txBody>
      </p:sp>
      <p:sp>
        <p:nvSpPr>
          <p:cNvPr id="18" name="crit-1"/>
          <p:cNvSpPr/>
          <p:nvPr/>
        </p:nvSpPr>
        <p:spPr>
          <a:xfrm>
            <a:off x="2816352" y="3566160"/>
            <a:ext cx="208483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2816352" y="35661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절차의 명확성</a:t>
            </a:r>
            <a:endParaRPr lang="en-US" sz="1500" dirty="0"/>
          </a:p>
        </p:txBody>
      </p:sp>
      <p:sp>
        <p:nvSpPr>
          <p:cNvPr id="20" name="crit-2"/>
          <p:cNvSpPr/>
          <p:nvPr/>
        </p:nvSpPr>
        <p:spPr>
          <a:xfrm>
            <a:off x="5084064" y="3566160"/>
            <a:ext cx="208483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084064" y="35661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데이터 준비</a:t>
            </a:r>
            <a:endParaRPr lang="en-US" sz="1500" dirty="0"/>
          </a:p>
        </p:txBody>
      </p:sp>
      <p:sp>
        <p:nvSpPr>
          <p:cNvPr id="22" name="crit-3"/>
          <p:cNvSpPr/>
          <p:nvPr/>
        </p:nvSpPr>
        <p:spPr>
          <a:xfrm>
            <a:off x="7351776" y="3566160"/>
            <a:ext cx="208483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351776" y="35661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판단의 난이도</a:t>
            </a:r>
            <a:endParaRPr lang="en-US" sz="1500" dirty="0"/>
          </a:p>
        </p:txBody>
      </p:sp>
      <p:sp>
        <p:nvSpPr>
          <p:cNvPr id="24" name="crit-4"/>
          <p:cNvSpPr/>
          <p:nvPr/>
        </p:nvSpPr>
        <p:spPr>
          <a:xfrm>
            <a:off x="9619488" y="3566160"/>
            <a:ext cx="208483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9619488" y="35661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실패했을 때 영향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사례: 사내 IT 문의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접수 → 이력 확인(Memory) → 분류(LLM) → FAQ 검색(Tool) → 답변 초안(LLM) → 담당자 확인(사람) → 기록(Memory)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80~82일차 단위 프로젝트 '지능형 Tech Support 자동화'의 가장 작은 버전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실습: miniflow로 워크플로우 실행하기</a:t>
            </a:r>
            <a:endParaRPr lang="en-US" sz="3000" dirty="0"/>
          </a:p>
        </p:txBody>
      </p:sp>
      <p:sp>
        <p:nvSpPr>
          <p:cNvPr id="3" name="terminal"/>
          <p:cNvSpPr/>
          <p:nvPr/>
        </p:nvSpPr>
        <p:spPr>
          <a:xfrm>
            <a:off x="548640" y="1417320"/>
            <a:ext cx="512064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64592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Last3Mon/64/workflow-lab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miniflow check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miniflow run \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flows/02-llm-tool.json \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-i city=제주 -i question=우산?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[2/4] weather  tool  ok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[3/4] answer   llm   ok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네, 제주에 비가 오고 비 올 확률이 80%이므로 우산이 필요합니다.</a:t>
            </a:r>
            <a:endParaRPr lang="en-US" sz="1700" dirty="0"/>
          </a:p>
        </p:txBody>
      </p:sp>
      <p:sp>
        <p:nvSpPr>
          <p:cNvPr id="5" name="lab-node-0"/>
          <p:cNvSpPr/>
          <p:nvPr/>
        </p:nvSpPr>
        <p:spPr>
          <a:xfrm>
            <a:off x="6035040" y="15544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0350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Lab 01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9202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첫 워크플로우 실행과 실행 기록 읽기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지난 프로젝트를 노드로 그리기</a:t>
            </a:r>
            <a:endParaRPr lang="en-US" sz="1500" dirty="0"/>
          </a:p>
        </p:txBody>
      </p:sp>
      <p:sp>
        <p:nvSpPr>
          <p:cNvPr id="9" name="lab-node-1"/>
          <p:cNvSpPr/>
          <p:nvPr/>
        </p:nvSpPr>
        <p:spPr>
          <a:xfrm>
            <a:off x="6035040" y="29718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035040" y="2971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926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Lab 02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3375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Tool → LLM, Memory로 실행 잇기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노드 추가 · Mock·OpenAI·Ollama 비교</a:t>
            </a:r>
            <a:endParaRPr lang="en-US" sz="1500" dirty="0"/>
          </a:p>
        </p:txBody>
      </p:sp>
      <p:sp>
        <p:nvSpPr>
          <p:cNvPr id="13" name="lab-node-2"/>
          <p:cNvSpPr/>
          <p:nvPr/>
        </p:nvSpPr>
        <p:spPr>
          <a:xfrm>
            <a:off x="6035040" y="43891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03504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4343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Lab 03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47548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시나리오 분석 템플릿 작성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my-scenario.json 설계·실행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OpenAI API(gpt-4.1-mini, 키는 .env) · 안 되면 Ollama(gemma3:4b) · 노코드 도구(n8n)는 65일차부터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7교시 퀴즈 · 그리고 내일</a:t>
            </a:r>
            <a:endParaRPr lang="en-US" sz="3600" dirty="0"/>
          </a:p>
        </p:txBody>
      </p:sp>
      <p:sp>
        <p:nvSpPr>
          <p:cNvPr id="3" name="quiz-A"/>
          <p:cNvSpPr/>
          <p:nvPr/>
        </p:nvSpPr>
        <p:spPr>
          <a:xfrm>
            <a:off x="731520" y="1737360"/>
            <a:ext cx="1188720" cy="11887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기본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용어와 개념</a:t>
            </a:r>
            <a:endParaRPr lang="en-US" sz="1300" dirty="0"/>
          </a:p>
        </p:txBody>
      </p:sp>
      <p:sp>
        <p:nvSpPr>
          <p:cNvPr id="7" name="quiz-B"/>
          <p:cNvSpPr/>
          <p:nvPr/>
        </p:nvSpPr>
        <p:spPr>
          <a:xfrm>
            <a:off x="3108960" y="173736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108960" y="1737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응용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노드 역할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데이터 흐름</a:t>
            </a:r>
            <a:endParaRPr lang="en-US" sz="1300" dirty="0"/>
          </a:p>
        </p:txBody>
      </p:sp>
      <p:sp>
        <p:nvSpPr>
          <p:cNvPr id="11" name="quiz-C"/>
          <p:cNvSpPr/>
          <p:nvPr/>
        </p:nvSpPr>
        <p:spPr>
          <a:xfrm>
            <a:off x="5486400" y="1737360"/>
            <a:ext cx="1188720" cy="11887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486400" y="1737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심화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429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설계 판단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실행 기록 해석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97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단계별 10문항 · 20분 · 원하는 단계 선택</a:t>
            </a:r>
            <a:endParaRPr lang="en-US" sz="1500" dirty="0"/>
          </a:p>
        </p:txBody>
      </p:sp>
      <p:sp>
        <p:nvSpPr>
          <p:cNvPr id="16" name="next-card"/>
          <p:cNvSpPr/>
          <p:nvPr/>
        </p:nvSpPr>
        <p:spPr>
          <a:xfrm>
            <a:off x="8138160" y="1737360"/>
            <a:ext cx="3383280" cy="292608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366760" y="192024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65일차 예고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Trigger · Condition · Action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FAQ 결과가 없으면 어디로 보낼까?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n8n 실습 환경 구성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오늘의 한 문장: 경로는 설계자가, 판단은 AI가, 기억과 데이터는 Memory와 Tool이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flow Teal">
  <a:themeElements>
    <a:clrScheme name="Workflow Teal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0F7C80"/>
      </a:accent1>
      <a:accent2>
        <a:srgbClr val="F2A541"/>
      </a:accent2>
      <a:accent3>
        <a:srgbClr val="5B8E7D"/>
      </a:accent3>
      <a:accent4>
        <a:srgbClr val="C65D3B"/>
      </a:accent4>
      <a:accent5>
        <a:srgbClr val="7A6FB0"/>
      </a:accent5>
      <a:accent6>
        <a:srgbClr val="8A9BA0"/>
      </a:accent6>
      <a:hlink>
        <a:srgbClr val="0F7C80"/>
      </a:hlink>
      <a:folHlink>
        <a:srgbClr val="5B8E7D"/>
      </a:folHlink>
    </a:clrScheme>
    <a:fontScheme name="Workflow Te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64일차 AI 워크플로우 개념 및 구성 요소 이해</dc:title>
  <dc:subject>PptxGenJS Presentation</dc:subject>
  <dc:creator>PptxGenJS</dc:creator>
  <cp:lastModifiedBy>PptxGenJS</cp:lastModifiedBy>
  <cp:revision>1</cp:revision>
  <dcterms:created xsi:type="dcterms:W3CDTF">2026-10-04T08:16:00Z</dcterms:created>
  <dcterms:modified xsi:type="dcterms:W3CDTF">2026-10-04T08:16:00Z</dcterms:modified>
</cp:coreProperties>
</file>